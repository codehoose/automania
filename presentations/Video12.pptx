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3" r:id="rId7"/>
    <p:sldId id="271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7" r:id="rId22"/>
    <p:sldId id="278" r:id="rId23"/>
    <p:sldId id="276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E43DC-4BFD-46E6-A4A7-C1C0DA8FA7B9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1D921-4929-4AE6-9821-E2E0F1804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83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stored in a single dimension array 0 to 767 which is 768 </a:t>
            </a:r>
            <a:r>
              <a:rPr lang="en-US" dirty="0" err="1"/>
              <a:t>colours</a:t>
            </a:r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1D921-4929-4AE6-9821-E2E0F1804F3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35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721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188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937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89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68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0380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714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443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34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024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667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9451F7A-C22B-4DCE-9124-43AB04C63DBD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078671F-271B-4FC5-BC55-9BD24509C7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4596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FEEA-C75F-92CA-80FA-976A1BA116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Base Conversion Algorithm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2C745-24D0-C65E-CD38-ED1F67E2C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806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523E-ED5E-D73A-60C8-22B0956E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178BE-0BFC-72AE-89A8-1328B8F805DA}"/>
              </a:ext>
            </a:extLst>
          </p:cNvPr>
          <p:cNvSpPr txBox="1"/>
          <p:nvPr/>
        </p:nvSpPr>
        <p:spPr>
          <a:xfrm>
            <a:off x="766916" y="1809136"/>
            <a:ext cx="10910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 your base 10 number and mod it with the new base to get the right-most digit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BBC6F-18BC-ACAB-58BA-A324376BB436}"/>
              </a:ext>
            </a:extLst>
          </p:cNvPr>
          <p:cNvSpPr txBox="1"/>
          <p:nvPr/>
        </p:nvSpPr>
        <p:spPr>
          <a:xfrm>
            <a:off x="2496296" y="2389249"/>
            <a:ext cx="719940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/>
              <a:t>1234</a:t>
            </a:r>
            <a:endParaRPr lang="en-CA" sz="25600" dirty="0"/>
          </a:p>
        </p:txBody>
      </p:sp>
    </p:spTree>
    <p:extLst>
      <p:ext uri="{BB962C8B-B14F-4D97-AF65-F5344CB8AC3E}">
        <p14:creationId xmlns:p14="http://schemas.microsoft.com/office/powerpoint/2010/main" val="3562164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0CC5-9CDE-76DC-DD78-EC5BFB09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8268-B244-B57A-5604-C6024E84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55D73-F219-D2F4-8C4D-75AA62CD4509}"/>
              </a:ext>
            </a:extLst>
          </p:cNvPr>
          <p:cNvSpPr txBox="1"/>
          <p:nvPr/>
        </p:nvSpPr>
        <p:spPr>
          <a:xfrm>
            <a:off x="766916" y="1809136"/>
            <a:ext cx="10910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 your base 10 number and mod it with the new base to get the right-most digit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1DC4B-02AE-8355-68CA-C4AC5BD0FA0F}"/>
              </a:ext>
            </a:extLst>
          </p:cNvPr>
          <p:cNvSpPr txBox="1"/>
          <p:nvPr/>
        </p:nvSpPr>
        <p:spPr>
          <a:xfrm>
            <a:off x="2496296" y="2389249"/>
            <a:ext cx="719940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/>
              <a:t>123</a:t>
            </a:r>
            <a:r>
              <a:rPr lang="en-US" sz="25600" dirty="0">
                <a:solidFill>
                  <a:schemeClr val="accent2"/>
                </a:solidFill>
              </a:rPr>
              <a:t>4</a:t>
            </a:r>
            <a:endParaRPr lang="en-CA" sz="25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76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C6331-BDC3-8F43-0B6A-792F61FC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93CDB-2779-8C28-3A44-07E09D6D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AC29B-7EE2-8DED-846A-D7012D63E373}"/>
              </a:ext>
            </a:extLst>
          </p:cNvPr>
          <p:cNvSpPr txBox="1"/>
          <p:nvPr/>
        </p:nvSpPr>
        <p:spPr>
          <a:xfrm>
            <a:off x="766916" y="1809136"/>
            <a:ext cx="10928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Divide the number by the new base (in this case 10) to get the next right-most digit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CB014-7EDB-9F61-7174-B4CBB56E3903}"/>
              </a:ext>
            </a:extLst>
          </p:cNvPr>
          <p:cNvSpPr txBox="1"/>
          <p:nvPr/>
        </p:nvSpPr>
        <p:spPr>
          <a:xfrm>
            <a:off x="3373139" y="2389249"/>
            <a:ext cx="544572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/>
              <a:t>123</a:t>
            </a:r>
            <a:endParaRPr lang="en-CA" sz="25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66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62F7-2D15-2A48-D160-F56EEC6A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33EC-ADC7-D22F-9969-BC382DEF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91AD7-10F4-D7DF-AF61-3208929EF576}"/>
              </a:ext>
            </a:extLst>
          </p:cNvPr>
          <p:cNvSpPr txBox="1"/>
          <p:nvPr/>
        </p:nvSpPr>
        <p:spPr>
          <a:xfrm>
            <a:off x="766916" y="1809136"/>
            <a:ext cx="10928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Divide the number by the new base (in this case 10) to get the next right-most digit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8A621-81CB-706E-48C5-5B3289B60E24}"/>
              </a:ext>
            </a:extLst>
          </p:cNvPr>
          <p:cNvSpPr txBox="1"/>
          <p:nvPr/>
        </p:nvSpPr>
        <p:spPr>
          <a:xfrm>
            <a:off x="3373139" y="2389249"/>
            <a:ext cx="544572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/>
              <a:t>12</a:t>
            </a:r>
            <a:r>
              <a:rPr lang="en-US" sz="25600" dirty="0">
                <a:solidFill>
                  <a:schemeClr val="accent2"/>
                </a:solidFill>
              </a:rPr>
              <a:t>3</a:t>
            </a:r>
            <a:endParaRPr lang="en-CA" sz="25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547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438C-7E5B-613E-5310-8B6D534D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5F0A-6673-12E9-FFDA-2F6E0CD7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7F32A-C07A-3C0B-81D6-8E1651F2DDCF}"/>
              </a:ext>
            </a:extLst>
          </p:cNvPr>
          <p:cNvSpPr txBox="1"/>
          <p:nvPr/>
        </p:nvSpPr>
        <p:spPr>
          <a:xfrm>
            <a:off x="766916" y="1809136"/>
            <a:ext cx="10928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Divide the number by the new base (in this case 10) to get the next right-most digit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23C11-03CE-4BD2-4877-581F8BC7436F}"/>
              </a:ext>
            </a:extLst>
          </p:cNvPr>
          <p:cNvSpPr txBox="1"/>
          <p:nvPr/>
        </p:nvSpPr>
        <p:spPr>
          <a:xfrm>
            <a:off x="4249982" y="2389249"/>
            <a:ext cx="369203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/>
              <a:t>1</a:t>
            </a:r>
            <a:r>
              <a:rPr lang="en-US" sz="25600" dirty="0">
                <a:solidFill>
                  <a:schemeClr val="accent2"/>
                </a:solidFill>
              </a:rPr>
              <a:t>2</a:t>
            </a:r>
            <a:endParaRPr lang="en-CA" sz="25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90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243F-789B-2381-7A63-7579C6D7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CF2F-2DEA-AFB4-764D-8F5F32B1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BE042-9E99-BD8E-FAB0-5C8D89CCF00C}"/>
              </a:ext>
            </a:extLst>
          </p:cNvPr>
          <p:cNvSpPr txBox="1"/>
          <p:nvPr/>
        </p:nvSpPr>
        <p:spPr>
          <a:xfrm>
            <a:off x="766916" y="1809136"/>
            <a:ext cx="10928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Divide the number by the new base (in this case 10) to get the next right-most digit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6ADE8-8CB4-0ADE-F2CC-3CCED63145C0}"/>
              </a:ext>
            </a:extLst>
          </p:cNvPr>
          <p:cNvSpPr txBox="1"/>
          <p:nvPr/>
        </p:nvSpPr>
        <p:spPr>
          <a:xfrm>
            <a:off x="5126824" y="2389249"/>
            <a:ext cx="193835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>
                <a:solidFill>
                  <a:schemeClr val="accent2"/>
                </a:solidFill>
              </a:rPr>
              <a:t>1</a:t>
            </a:r>
            <a:endParaRPr lang="en-CA" sz="25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425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A5E17-B934-7885-6A07-23BB39C9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8194-228D-42AE-1B18-24E0E501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from Base 10 to Another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67945-DD7F-CAE7-EE3A-12E7B87A77EC}"/>
              </a:ext>
            </a:extLst>
          </p:cNvPr>
          <p:cNvSpPr txBox="1"/>
          <p:nvPr/>
        </p:nvSpPr>
        <p:spPr>
          <a:xfrm>
            <a:off x="766916" y="1809136"/>
            <a:ext cx="985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Repeat until the there are no more numbers to process i.e. we’ve hit zero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A07C1-C4F8-29F3-1F18-C908D7F19E0C}"/>
              </a:ext>
            </a:extLst>
          </p:cNvPr>
          <p:cNvSpPr txBox="1"/>
          <p:nvPr/>
        </p:nvSpPr>
        <p:spPr>
          <a:xfrm>
            <a:off x="4726750" y="2389249"/>
            <a:ext cx="193835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0" dirty="0"/>
              <a:t>0</a:t>
            </a:r>
            <a:endParaRPr lang="en-CA" sz="25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11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A5EB-14F4-8BA2-5A3E-D54E13D9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Algorithm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D3925-A134-2DB4-E3DE-87341D92E150}"/>
              </a:ext>
            </a:extLst>
          </p:cNvPr>
          <p:cNvSpPr txBox="1"/>
          <p:nvPr/>
        </p:nvSpPr>
        <p:spPr>
          <a:xfrm>
            <a:off x="838200" y="1563329"/>
            <a:ext cx="635943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4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int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number </a:t>
            </a:r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=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1234</a:t>
            </a:r>
          </a:p>
          <a:p>
            <a:r>
              <a:rPr lang="en-US" sz="3600" dirty="0">
                <a:solidFill>
                  <a:schemeClr val="accent4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int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base </a:t>
            </a:r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=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10</a:t>
            </a:r>
          </a:p>
          <a:p>
            <a:r>
              <a:rPr lang="en-US" sz="3600" dirty="0">
                <a:solidFill>
                  <a:schemeClr val="accent4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while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(number </a:t>
            </a:r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&gt;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0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)</a:t>
            </a:r>
          </a:p>
          <a:p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{</a:t>
            </a:r>
          </a:p>
          <a:p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	</a:t>
            </a:r>
            <a:r>
              <a:rPr lang="en-US" sz="3600" dirty="0">
                <a:solidFill>
                  <a:schemeClr val="accent4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int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remainder </a:t>
            </a:r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=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number </a:t>
            </a:r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%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base;</a:t>
            </a:r>
          </a:p>
          <a:p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	</a:t>
            </a:r>
            <a:r>
              <a:rPr lang="en-US" sz="3600" dirty="0">
                <a:solidFill>
                  <a:schemeClr val="accent6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// TODO: Something with remainder</a:t>
            </a:r>
          </a:p>
          <a:p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	number </a:t>
            </a:r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/=</a:t>
            </a:r>
            <a:r>
              <a:rPr lang="en-US" sz="36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 base;</a:t>
            </a:r>
          </a:p>
          <a:p>
            <a:r>
              <a:rPr lang="en-US" sz="3600" dirty="0">
                <a:solidFill>
                  <a:schemeClr val="accent5"/>
                </a:solidFill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}</a:t>
            </a:r>
            <a:endParaRPr lang="en-CA" sz="3600" dirty="0">
              <a:solidFill>
                <a:schemeClr val="accent5"/>
              </a:solidFill>
              <a:latin typeface="AcPlus IBM EGA 9x14" panose="00000009000000000000" pitchFamily="49" charset="0"/>
              <a:ea typeface="AcPlus IBM EGA 9x14" panose="00000009000000000000" pitchFamily="49" charset="0"/>
              <a:cs typeface="AcPlus IBM EGA 9x14" panose="00000009000000000000" pitchFamily="49" charset="0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292AA4B-9204-9C63-C369-98D574AEB468}"/>
              </a:ext>
            </a:extLst>
          </p:cNvPr>
          <p:cNvSpPr/>
          <p:nvPr/>
        </p:nvSpPr>
        <p:spPr>
          <a:xfrm>
            <a:off x="7197633" y="3736258"/>
            <a:ext cx="412955" cy="1879438"/>
          </a:xfrm>
          <a:prstGeom prst="leftBrace">
            <a:avLst>
              <a:gd name="adj1" fmla="val 127381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6D109-9BF6-6FBC-BD18-43A0BB0BF37D}"/>
              </a:ext>
            </a:extLst>
          </p:cNvPr>
          <p:cNvSpPr txBox="1"/>
          <p:nvPr/>
        </p:nvSpPr>
        <p:spPr>
          <a:xfrm>
            <a:off x="7610588" y="3891147"/>
            <a:ext cx="37358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cPlus IBM EGA 9x14" panose="00000009000000000000" pitchFamily="49" charset="0"/>
                <a:ea typeface="AcPlus IBM EGA 9x14" panose="00000009000000000000" pitchFamily="49" charset="0"/>
                <a:cs typeface="AcPlus IBM EGA 9x14" panose="00000009000000000000" pitchFamily="49" charset="0"/>
              </a:rPr>
              <a:t>remainder</a:t>
            </a:r>
            <a:r>
              <a:rPr lang="en-US" sz="2400" dirty="0"/>
              <a:t> will get used as an</a:t>
            </a:r>
            <a:br>
              <a:rPr lang="en-US" sz="2400" dirty="0"/>
            </a:br>
            <a:r>
              <a:rPr lang="en-US" sz="2400" dirty="0"/>
              <a:t>index into an array of sprite</a:t>
            </a:r>
            <a:br>
              <a:rPr lang="en-US" sz="2400" dirty="0"/>
            </a:br>
            <a:r>
              <a:rPr lang="en-US" sz="2400" dirty="0"/>
              <a:t>images that represent the</a:t>
            </a:r>
            <a:br>
              <a:rPr lang="en-US" sz="2400" dirty="0"/>
            </a:br>
            <a:r>
              <a:rPr lang="en-US" sz="2400" dirty="0"/>
              <a:t>digits 0-9 inclusive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78323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5122-A24D-3443-E259-0DCB38A1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48D76-8B33-A1EE-4324-AC8AF0FDBA60}"/>
              </a:ext>
            </a:extLst>
          </p:cNvPr>
          <p:cNvSpPr txBox="1"/>
          <p:nvPr/>
        </p:nvSpPr>
        <p:spPr>
          <a:xfrm>
            <a:off x="766916" y="1406014"/>
            <a:ext cx="982833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 array of </a:t>
            </a:r>
            <a:r>
              <a:rPr lang="en-US" sz="2400" dirty="0" err="1"/>
              <a:t>SpriteRenderer</a:t>
            </a:r>
            <a:r>
              <a:rPr lang="en-US" sz="2400" dirty="0"/>
              <a:t> components that represent the in-game digits.</a:t>
            </a:r>
            <a:br>
              <a:rPr lang="en-US" sz="2400" dirty="0"/>
            </a:br>
            <a:r>
              <a:rPr lang="en-US" sz="2400" dirty="0"/>
              <a:t>Least significant is Length-1 i.e. the right-most digit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br>
              <a:rPr lang="en-US" sz="2400" dirty="0"/>
            </a:br>
            <a:r>
              <a:rPr lang="en-US" sz="2400" dirty="0"/>
              <a:t>An array of Sprites that hold the digits 0-9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CA" sz="24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0AB0720-A83B-D3E7-4AAF-552A6DA66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917950"/>
              </p:ext>
            </p:extLst>
          </p:nvPr>
        </p:nvGraphicFramePr>
        <p:xfrm>
          <a:off x="4378869" y="5691042"/>
          <a:ext cx="6974931" cy="698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55337" imgH="405725" progId="">
                  <p:embed/>
                </p:oleObj>
              </mc:Choice>
              <mc:Fallback>
                <p:oleObj r:id="rId2" imgW="4055337" imgH="405725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78869" y="5691042"/>
                        <a:ext cx="6974931" cy="698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0AC268A-E1C0-316E-6912-3AEB89CB3A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140362"/>
              </p:ext>
            </p:extLst>
          </p:nvPr>
        </p:nvGraphicFramePr>
        <p:xfrm>
          <a:off x="3528432" y="2452817"/>
          <a:ext cx="4305300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05764" imgH="1645920" progId="">
                  <p:embed/>
                </p:oleObj>
              </mc:Choice>
              <mc:Fallback>
                <p:oleObj r:id="rId4" imgW="4305764" imgH="16459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8432" y="2452817"/>
                        <a:ext cx="4305300" cy="1646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24B4AF05-65A0-85D7-97C3-73E6CF8055A6}"/>
              </a:ext>
            </a:extLst>
          </p:cNvPr>
          <p:cNvSpPr/>
          <p:nvPr/>
        </p:nvSpPr>
        <p:spPr>
          <a:xfrm rot="16200000">
            <a:off x="5814668" y="1527804"/>
            <a:ext cx="194850" cy="1547684"/>
          </a:xfrm>
          <a:prstGeom prst="rightBrace">
            <a:avLst>
              <a:gd name="adj1" fmla="val 93696"/>
              <a:gd name="adj2" fmla="val 5000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AE21C1-1EA8-C6E9-E3C0-18707CD06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264" y="4861183"/>
            <a:ext cx="3054601" cy="1892392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52F8916A-566C-54C6-DB71-4340E8B08241}"/>
              </a:ext>
            </a:extLst>
          </p:cNvPr>
          <p:cNvSpPr/>
          <p:nvPr/>
        </p:nvSpPr>
        <p:spPr>
          <a:xfrm>
            <a:off x="4096213" y="4932455"/>
            <a:ext cx="194850" cy="1547684"/>
          </a:xfrm>
          <a:prstGeom prst="rightBrace">
            <a:avLst>
              <a:gd name="adj1" fmla="val 93696"/>
              <a:gd name="adj2" fmla="val 68771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784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374D-B3BE-746A-D1D8-9241C26A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339C-924A-5DAD-0F7F-1B23C30B5F55}"/>
              </a:ext>
            </a:extLst>
          </p:cNvPr>
          <p:cNvSpPr txBox="1"/>
          <p:nvPr/>
        </p:nvSpPr>
        <p:spPr>
          <a:xfrm>
            <a:off x="766916" y="1809136"/>
            <a:ext cx="10311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time the score changes:</a:t>
            </a:r>
            <a:br>
              <a:rPr lang="en-US" sz="2400" dirty="0"/>
            </a:br>
            <a:r>
              <a:rPr lang="en-US" sz="2400" dirty="0"/>
              <a:t>Reset the visual indicators to the 0</a:t>
            </a:r>
            <a:r>
              <a:rPr lang="en-US" sz="2400" baseline="30000" dirty="0"/>
              <a:t>th</a:t>
            </a:r>
            <a:r>
              <a:rPr lang="en-US" sz="2400" dirty="0"/>
              <a:t> sprite (0 digit sprite)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the algorithm and set the values from the least significant number</a:t>
            </a:r>
            <a:br>
              <a:rPr lang="en-US" sz="2400" dirty="0"/>
            </a:br>
            <a:r>
              <a:rPr lang="en-US" sz="2400" dirty="0"/>
              <a:t>to the most: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B259E-E266-319B-C036-1A02D9CD7966}"/>
              </a:ext>
            </a:extLst>
          </p:cNvPr>
          <p:cNvSpPr txBox="1"/>
          <p:nvPr/>
        </p:nvSpPr>
        <p:spPr>
          <a:xfrm>
            <a:off x="838200" y="3378796"/>
            <a:ext cx="33489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Number: 1234</a:t>
            </a:r>
            <a:br>
              <a:rPr lang="en-US" sz="4000" dirty="0"/>
            </a:br>
            <a:r>
              <a:rPr lang="en-US" sz="4000" dirty="0"/>
              <a:t>Index: 5</a:t>
            </a:r>
            <a:endParaRPr lang="en-CA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A4C3ED0-3685-C771-5F32-9E56AC743C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714444"/>
              </p:ext>
            </p:extLst>
          </p:nvPr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07318" imgH="659663" progId="">
                  <p:embed/>
                </p:oleObj>
              </mc:Choice>
              <mc:Fallback>
                <p:oleObj r:id="rId2" imgW="4207318" imgH="65966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1990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EC87-0492-282F-C6D4-19CF8681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6DF7-905B-552C-4B65-7F0744C5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CDE51-9371-74E8-1D79-3770699EC9C4}"/>
              </a:ext>
            </a:extLst>
          </p:cNvPr>
          <p:cNvSpPr txBox="1"/>
          <p:nvPr/>
        </p:nvSpPr>
        <p:spPr>
          <a:xfrm>
            <a:off x="766916" y="1809136"/>
            <a:ext cx="10311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time the score changes:</a:t>
            </a:r>
            <a:br>
              <a:rPr lang="en-US" sz="2400" dirty="0"/>
            </a:br>
            <a:r>
              <a:rPr lang="en-US" sz="2400" dirty="0"/>
              <a:t>Reset the visual indicators to the 0</a:t>
            </a:r>
            <a:r>
              <a:rPr lang="en-US" sz="2400" baseline="30000" dirty="0"/>
              <a:t>th</a:t>
            </a:r>
            <a:r>
              <a:rPr lang="en-US" sz="2400" dirty="0"/>
              <a:t> sprite (0 digit sprite)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the algorithm and set the values from the least significant number</a:t>
            </a:r>
            <a:br>
              <a:rPr lang="en-US" sz="2400" dirty="0"/>
            </a:br>
            <a:r>
              <a:rPr lang="en-US" sz="2400" dirty="0"/>
              <a:t>to the most: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80604-113A-7F5C-9494-988959975D30}"/>
              </a:ext>
            </a:extLst>
          </p:cNvPr>
          <p:cNvSpPr txBox="1"/>
          <p:nvPr/>
        </p:nvSpPr>
        <p:spPr>
          <a:xfrm>
            <a:off x="838200" y="3378796"/>
            <a:ext cx="33489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Number: 123</a:t>
            </a:r>
            <a:r>
              <a:rPr lang="en-US" sz="4000" b="1" dirty="0">
                <a:solidFill>
                  <a:schemeClr val="accent2"/>
                </a:solidFill>
              </a:rPr>
              <a:t>4</a:t>
            </a:r>
            <a:br>
              <a:rPr lang="en-US" sz="4000" dirty="0"/>
            </a:br>
            <a:r>
              <a:rPr lang="en-US" sz="4000" dirty="0"/>
              <a:t>Index: 5</a:t>
            </a:r>
            <a:endParaRPr lang="en-CA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714F336-BB4E-B2E5-C2A3-066AE6717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07318" imgH="659663" progId="">
                  <p:embed/>
                </p:oleObj>
              </mc:Choice>
              <mc:Fallback>
                <p:oleObj r:id="rId2" imgW="4207318" imgH="659663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A4C3ED0-3685-C771-5F32-9E56AC743C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40A19CA-9E03-280E-9A44-D015B09BB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753770"/>
              </p:ext>
            </p:extLst>
          </p:nvPr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07318" imgH="659663" progId="">
                  <p:embed/>
                </p:oleObj>
              </mc:Choice>
              <mc:Fallback>
                <p:oleObj r:id="rId4" imgW="4207318" imgH="65966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A86B023-3EAC-85F1-BBBB-3A50BB19E0B5}"/>
              </a:ext>
            </a:extLst>
          </p:cNvPr>
          <p:cNvCxnSpPr/>
          <p:nvPr/>
        </p:nvCxnSpPr>
        <p:spPr>
          <a:xfrm>
            <a:off x="2781300" y="4333875"/>
            <a:ext cx="5286375" cy="368360"/>
          </a:xfrm>
          <a:prstGeom prst="bentConnector3">
            <a:avLst>
              <a:gd name="adj1" fmla="val 10009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06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6FC4-AC54-5C6B-9553-7FF1ADDD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DF04-ADC2-7927-CF15-C93DFE26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7411B-36F0-F613-0498-E8CC7FF7F837}"/>
              </a:ext>
            </a:extLst>
          </p:cNvPr>
          <p:cNvSpPr txBox="1"/>
          <p:nvPr/>
        </p:nvSpPr>
        <p:spPr>
          <a:xfrm>
            <a:off x="766916" y="1809136"/>
            <a:ext cx="10311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time the score changes:</a:t>
            </a:r>
            <a:br>
              <a:rPr lang="en-US" sz="2400" dirty="0"/>
            </a:br>
            <a:r>
              <a:rPr lang="en-US" sz="2400" dirty="0"/>
              <a:t>Reset the visual indicators to the 0</a:t>
            </a:r>
            <a:r>
              <a:rPr lang="en-US" sz="2400" baseline="30000" dirty="0"/>
              <a:t>th</a:t>
            </a:r>
            <a:r>
              <a:rPr lang="en-US" sz="2400" dirty="0"/>
              <a:t> sprite (0 digit sprite)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the algorithm and set the values from the least significant number</a:t>
            </a:r>
            <a:br>
              <a:rPr lang="en-US" sz="2400" dirty="0"/>
            </a:br>
            <a:r>
              <a:rPr lang="en-US" sz="2400" dirty="0"/>
              <a:t>to the most: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4F534-8F75-3AEF-A2AD-43791C7DDF6A}"/>
              </a:ext>
            </a:extLst>
          </p:cNvPr>
          <p:cNvSpPr txBox="1"/>
          <p:nvPr/>
        </p:nvSpPr>
        <p:spPr>
          <a:xfrm>
            <a:off x="838200" y="3378796"/>
            <a:ext cx="30748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Number: 12</a:t>
            </a:r>
            <a:r>
              <a:rPr lang="en-US" sz="4000" b="1" dirty="0">
                <a:solidFill>
                  <a:schemeClr val="accent2"/>
                </a:solidFill>
              </a:rPr>
              <a:t>3</a:t>
            </a:r>
            <a:br>
              <a:rPr lang="en-US" sz="4000" dirty="0"/>
            </a:br>
            <a:r>
              <a:rPr lang="en-US" sz="4000" dirty="0"/>
              <a:t>Index: 4</a:t>
            </a:r>
            <a:endParaRPr lang="en-CA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FCDF8C9-AB95-F992-6A92-6E6A4E8849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07318" imgH="659663" progId="">
                  <p:embed/>
                </p:oleObj>
              </mc:Choice>
              <mc:Fallback>
                <p:oleObj r:id="rId2" imgW="4207318" imgH="659663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714F336-BB4E-B2E5-C2A3-066AE67171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3C089C0-6541-0664-597E-8C346EE6C4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07318" imgH="659663" progId="">
                  <p:embed/>
                </p:oleObj>
              </mc:Choice>
              <mc:Fallback>
                <p:oleObj r:id="rId4" imgW="4207318" imgH="659663" progId="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40A19CA-9E03-280E-9A44-D015B09BB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7B675F6-39CD-29C9-72D4-7FB6A22BE4A3}"/>
              </a:ext>
            </a:extLst>
          </p:cNvPr>
          <p:cNvCxnSpPr>
            <a:cxnSpLocks/>
          </p:cNvCxnSpPr>
          <p:nvPr/>
        </p:nvCxnSpPr>
        <p:spPr>
          <a:xfrm>
            <a:off x="2781300" y="4333875"/>
            <a:ext cx="4886325" cy="368360"/>
          </a:xfrm>
          <a:prstGeom prst="bentConnector3">
            <a:avLst>
              <a:gd name="adj1" fmla="val 100097"/>
            </a:avLst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08F5A86-70EF-A9E3-92EB-CA9D0B430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804532"/>
              </p:ext>
            </p:extLst>
          </p:nvPr>
        </p:nvGraphicFramePr>
        <p:xfrm>
          <a:off x="3992561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207318" imgH="659663" progId="">
                  <p:embed/>
                </p:oleObj>
              </mc:Choice>
              <mc:Fallback>
                <p:oleObj r:id="rId6" imgW="4207318" imgH="65966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2561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944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3A5D7-442F-8F3C-CBE8-4CBCA244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434C-FB39-6C90-6EE4-246259C9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5B81A-8EE0-3EE6-E9CE-3D88AC4402D0}"/>
              </a:ext>
            </a:extLst>
          </p:cNvPr>
          <p:cNvSpPr txBox="1"/>
          <p:nvPr/>
        </p:nvSpPr>
        <p:spPr>
          <a:xfrm>
            <a:off x="766916" y="1809136"/>
            <a:ext cx="10311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time the score changes:</a:t>
            </a:r>
            <a:br>
              <a:rPr lang="en-US" sz="2400" dirty="0"/>
            </a:br>
            <a:r>
              <a:rPr lang="en-US" sz="2400" dirty="0"/>
              <a:t>Reset the visual indicators to the 0</a:t>
            </a:r>
            <a:r>
              <a:rPr lang="en-US" sz="2400" baseline="30000" dirty="0"/>
              <a:t>th</a:t>
            </a:r>
            <a:r>
              <a:rPr lang="en-US" sz="2400" dirty="0"/>
              <a:t> sprite (0 digit sprite)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the algorithm and set the values from the least significant number</a:t>
            </a:r>
            <a:br>
              <a:rPr lang="en-US" sz="2400" dirty="0"/>
            </a:br>
            <a:r>
              <a:rPr lang="en-US" sz="2400" dirty="0"/>
              <a:t>to the most: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39C79-1C3D-5667-DED1-689D330C7E79}"/>
              </a:ext>
            </a:extLst>
          </p:cNvPr>
          <p:cNvSpPr txBox="1"/>
          <p:nvPr/>
        </p:nvSpPr>
        <p:spPr>
          <a:xfrm>
            <a:off x="838200" y="3378796"/>
            <a:ext cx="28007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Number: 1</a:t>
            </a:r>
            <a:r>
              <a:rPr lang="en-US" sz="4000" b="1" dirty="0">
                <a:solidFill>
                  <a:schemeClr val="accent2"/>
                </a:solidFill>
              </a:rPr>
              <a:t>2</a:t>
            </a:r>
            <a:br>
              <a:rPr lang="en-US" sz="4000" dirty="0"/>
            </a:br>
            <a:r>
              <a:rPr lang="en-US" sz="4000" dirty="0"/>
              <a:t>Index: 3</a:t>
            </a:r>
            <a:endParaRPr lang="en-CA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AC8F384-8581-EDC0-FE26-4C0B5902EF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07318" imgH="659663" progId="">
                  <p:embed/>
                </p:oleObj>
              </mc:Choice>
              <mc:Fallback>
                <p:oleObj r:id="rId2" imgW="4207318" imgH="659663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FCDF8C9-AB95-F992-6A92-6E6A4E8849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7B7F83E-FE4C-085C-5CD3-D12D44C82D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07318" imgH="659663" progId="">
                  <p:embed/>
                </p:oleObj>
              </mc:Choice>
              <mc:Fallback>
                <p:oleObj r:id="rId4" imgW="4207318" imgH="659663" progId="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3C089C0-6541-0664-597E-8C346EE6C4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12AAFC3-21B2-42F4-E844-4EE62C1B464D}"/>
              </a:ext>
            </a:extLst>
          </p:cNvPr>
          <p:cNvCxnSpPr>
            <a:cxnSpLocks/>
          </p:cNvCxnSpPr>
          <p:nvPr/>
        </p:nvCxnSpPr>
        <p:spPr>
          <a:xfrm>
            <a:off x="2781300" y="4333875"/>
            <a:ext cx="4572000" cy="368360"/>
          </a:xfrm>
          <a:prstGeom prst="bentConnector3">
            <a:avLst>
              <a:gd name="adj1" fmla="val 10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4484981-F3DF-04AD-733B-322C52D85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1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207318" imgH="659663" progId="">
                  <p:embed/>
                </p:oleObj>
              </mc:Choice>
              <mc:Fallback>
                <p:oleObj r:id="rId6" imgW="4207318" imgH="659663" progId="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08F5A86-70EF-A9E3-92EB-CA9D0B430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2561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792AE4E-1209-D0E2-8EBA-E3D62CD8C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86776"/>
              </p:ext>
            </p:extLst>
          </p:nvPr>
        </p:nvGraphicFramePr>
        <p:xfrm>
          <a:off x="3992560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207318" imgH="659663" progId="">
                  <p:embed/>
                </p:oleObj>
              </mc:Choice>
              <mc:Fallback>
                <p:oleObj r:id="rId8" imgW="4207318" imgH="65966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92560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146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025B-206B-3D4A-89BA-661AD0DF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F0D3-D732-7E06-6867-5D6DD4EE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E8BF4-7569-619B-1EF5-F6871B41D983}"/>
              </a:ext>
            </a:extLst>
          </p:cNvPr>
          <p:cNvSpPr txBox="1"/>
          <p:nvPr/>
        </p:nvSpPr>
        <p:spPr>
          <a:xfrm>
            <a:off x="766916" y="1809136"/>
            <a:ext cx="10311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time the score changes:</a:t>
            </a:r>
            <a:br>
              <a:rPr lang="en-US" sz="2400" dirty="0"/>
            </a:br>
            <a:r>
              <a:rPr lang="en-US" sz="2400" dirty="0"/>
              <a:t>Reset the visual indicators to the 0</a:t>
            </a:r>
            <a:r>
              <a:rPr lang="en-US" sz="2400" baseline="30000" dirty="0"/>
              <a:t>th</a:t>
            </a:r>
            <a:r>
              <a:rPr lang="en-US" sz="2400" dirty="0"/>
              <a:t> sprite (0 digit sprite)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the algorithm and set the values from the least significant number</a:t>
            </a:r>
            <a:br>
              <a:rPr lang="en-US" sz="2400" dirty="0"/>
            </a:br>
            <a:r>
              <a:rPr lang="en-US" sz="2400" dirty="0"/>
              <a:t>to the most: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5913D-C697-E052-E45A-40144AA41E71}"/>
              </a:ext>
            </a:extLst>
          </p:cNvPr>
          <p:cNvSpPr txBox="1"/>
          <p:nvPr/>
        </p:nvSpPr>
        <p:spPr>
          <a:xfrm>
            <a:off x="838200" y="3378796"/>
            <a:ext cx="25266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Number: </a:t>
            </a:r>
            <a:r>
              <a:rPr lang="en-US" sz="4000" b="1" dirty="0">
                <a:solidFill>
                  <a:schemeClr val="accent2"/>
                </a:solidFill>
              </a:rPr>
              <a:t>1</a:t>
            </a:r>
            <a:br>
              <a:rPr lang="en-US" sz="4000" dirty="0"/>
            </a:br>
            <a:r>
              <a:rPr lang="en-US" sz="4000" dirty="0"/>
              <a:t>Index: 2</a:t>
            </a:r>
            <a:endParaRPr lang="en-CA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215B9E3-C197-AF4D-5791-73204D305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07318" imgH="659663" progId="">
                  <p:embed/>
                </p:oleObj>
              </mc:Choice>
              <mc:Fallback>
                <p:oleObj r:id="rId2" imgW="4207318" imgH="659663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AC8F384-8581-EDC0-FE26-4C0B5902E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C9785A8-BAA7-E693-503E-08D92FFBB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07318" imgH="659663" progId="">
                  <p:embed/>
                </p:oleObj>
              </mc:Choice>
              <mc:Fallback>
                <p:oleObj r:id="rId4" imgW="4207318" imgH="659663" progId="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7B7F83E-FE4C-085C-5CD3-D12D44C82D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80BBFB0-2F9C-7C8F-39EF-738ED3D50812}"/>
              </a:ext>
            </a:extLst>
          </p:cNvPr>
          <p:cNvCxnSpPr>
            <a:cxnSpLocks/>
          </p:cNvCxnSpPr>
          <p:nvPr/>
        </p:nvCxnSpPr>
        <p:spPr>
          <a:xfrm>
            <a:off x="2781300" y="4333875"/>
            <a:ext cx="4200525" cy="438150"/>
          </a:xfrm>
          <a:prstGeom prst="bentConnector3">
            <a:avLst>
              <a:gd name="adj1" fmla="val 100113"/>
            </a:avLst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5A96FF4-8E68-EFF8-9157-1235977524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1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207318" imgH="659663" progId="">
                  <p:embed/>
                </p:oleObj>
              </mc:Choice>
              <mc:Fallback>
                <p:oleObj r:id="rId6" imgW="4207318" imgH="659663" progId="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4484981-F3DF-04AD-733B-322C52D85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2561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8C0C022-5344-64EF-D5E6-B9F176F7FB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0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207318" imgH="659663" progId="">
                  <p:embed/>
                </p:oleObj>
              </mc:Choice>
              <mc:Fallback>
                <p:oleObj r:id="rId8" imgW="4207318" imgH="659663" progId="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792AE4E-1209-D0E2-8EBA-E3D62CD8C0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92560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6E263BC-80C4-555E-7511-F5A97A997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997031"/>
              </p:ext>
            </p:extLst>
          </p:nvPr>
        </p:nvGraphicFramePr>
        <p:xfrm>
          <a:off x="3992560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207318" imgH="659663" progId="">
                  <p:embed/>
                </p:oleObj>
              </mc:Choice>
              <mc:Fallback>
                <p:oleObj r:id="rId10" imgW="4207318" imgH="65966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92560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609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EF7C-BB00-1FD1-D10B-E5714467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F6C5-4775-E0BD-EC4D-D550EF5E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A4C1D-6D10-4340-4A42-CD112AFA0528}"/>
              </a:ext>
            </a:extLst>
          </p:cNvPr>
          <p:cNvSpPr txBox="1"/>
          <p:nvPr/>
        </p:nvSpPr>
        <p:spPr>
          <a:xfrm>
            <a:off x="766916" y="1809136"/>
            <a:ext cx="10311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time the score changes:</a:t>
            </a:r>
            <a:br>
              <a:rPr lang="en-US" sz="2400" dirty="0"/>
            </a:br>
            <a:r>
              <a:rPr lang="en-US" sz="2400" dirty="0"/>
              <a:t>Reset the visual indicators to the 0</a:t>
            </a:r>
            <a:r>
              <a:rPr lang="en-US" sz="2400" baseline="30000" dirty="0"/>
              <a:t>th</a:t>
            </a:r>
            <a:r>
              <a:rPr lang="en-US" sz="2400" dirty="0"/>
              <a:t> sprite (0 digit sprite)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the algorithm and set the values from the least significant number</a:t>
            </a:r>
            <a:br>
              <a:rPr lang="en-US" sz="2400" dirty="0"/>
            </a:br>
            <a:r>
              <a:rPr lang="en-US" sz="2400" dirty="0"/>
              <a:t>to the most: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CECB2-310D-42C3-A9BA-D933700F0A6A}"/>
              </a:ext>
            </a:extLst>
          </p:cNvPr>
          <p:cNvSpPr txBox="1"/>
          <p:nvPr/>
        </p:nvSpPr>
        <p:spPr>
          <a:xfrm>
            <a:off x="838200" y="3378796"/>
            <a:ext cx="25266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Number: </a:t>
            </a:r>
            <a:r>
              <a:rPr lang="en-US" sz="4000" b="1" dirty="0">
                <a:solidFill>
                  <a:schemeClr val="accent2"/>
                </a:solidFill>
              </a:rPr>
              <a:t>0</a:t>
            </a:r>
            <a:br>
              <a:rPr lang="en-US" sz="4000" dirty="0"/>
            </a:br>
            <a:r>
              <a:rPr lang="en-US" sz="4000" dirty="0"/>
              <a:t>Index: 2</a:t>
            </a:r>
            <a:endParaRPr lang="en-CA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565DE9F-A030-C3FF-DAF3-A96ADD53B7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07318" imgH="659663" progId="">
                  <p:embed/>
                </p:oleObj>
              </mc:Choice>
              <mc:Fallback>
                <p:oleObj r:id="rId2" imgW="4207318" imgH="659663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215B9E3-C197-AF4D-5791-73204D3055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A2EE64C-5B73-082E-6F56-6287B0153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2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07318" imgH="659663" progId="">
                  <p:embed/>
                </p:oleObj>
              </mc:Choice>
              <mc:Fallback>
                <p:oleObj r:id="rId4" imgW="4207318" imgH="659663" progId="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C9785A8-BAA7-E693-503E-08D92FFBB7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2562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DEBEE34-EE84-7433-B57A-0A6A03753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1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207318" imgH="659663" progId="">
                  <p:embed/>
                </p:oleObj>
              </mc:Choice>
              <mc:Fallback>
                <p:oleObj r:id="rId6" imgW="4207318" imgH="659663" progId="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5A96FF4-8E68-EFF8-9157-1235977524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2561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E722145-7306-2EE4-C608-39E34480B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0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207318" imgH="659663" progId="">
                  <p:embed/>
                </p:oleObj>
              </mc:Choice>
              <mc:Fallback>
                <p:oleObj r:id="rId8" imgW="4207318" imgH="659663" progId="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8C0C022-5344-64EF-D5E6-B9F176F7FB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92560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5C236F-0DDB-0ADD-23B9-607F77A0AF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0" y="4840288"/>
          <a:ext cx="42068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207318" imgH="659663" progId="">
                  <p:embed/>
                </p:oleObj>
              </mc:Choice>
              <mc:Fallback>
                <p:oleObj r:id="rId10" imgW="4207318" imgH="659663" progId="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26E263BC-80C4-555E-7511-F5A97A9977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92560" y="4840288"/>
                        <a:ext cx="420687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460D25-512C-821D-2B5F-29ED945576C1}"/>
              </a:ext>
            </a:extLst>
          </p:cNvPr>
          <p:cNvSpPr txBox="1"/>
          <p:nvPr/>
        </p:nvSpPr>
        <p:spPr>
          <a:xfrm rot="20139302">
            <a:off x="2514601" y="4055458"/>
            <a:ext cx="36423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ln w="53975" cmpd="dbl">
                  <a:solidFill>
                    <a:schemeClr val="bg1"/>
                  </a:solidFill>
                </a:ln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Done!</a:t>
            </a:r>
            <a:endParaRPr lang="en-CA" sz="9600" b="1" dirty="0">
              <a:ln w="53975" cmpd="dbl">
                <a:solidFill>
                  <a:schemeClr val="bg1"/>
                </a:solidFill>
              </a:ln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40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02B4-25E8-1515-B6D5-9F40D141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7B67-140B-CB48-10D9-322A92A88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AFA06-C70F-7A20-7276-97CB3642C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3799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F133-C2BF-A2F2-46DA-F63667BD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926E-C523-B1A4-E2CA-E5AACBC9E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Attribute X&amp;Y Co-Ordinates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E97C0-C9C0-E028-22D0-615D89BFC1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2181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9322-59FA-C3FF-A643-4ACDED6E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AA4280-4F94-9FB7-046F-BA4E12A90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06" y="990905"/>
            <a:ext cx="6501588" cy="4876190"/>
          </a:xfrm>
        </p:spPr>
      </p:pic>
    </p:spTree>
    <p:extLst>
      <p:ext uri="{BB962C8B-B14F-4D97-AF65-F5344CB8AC3E}">
        <p14:creationId xmlns:p14="http://schemas.microsoft.com/office/powerpoint/2010/main" val="568004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8C7B-0162-597D-1A32-30F521F1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00D049-81E4-4A6C-AD9D-11D0D10A7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5206" y="990905"/>
            <a:ext cx="6501588" cy="487619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4E32F7-8165-9ADD-9860-A09201B45FBD}"/>
              </a:ext>
            </a:extLst>
          </p:cNvPr>
          <p:cNvSpPr txBox="1"/>
          <p:nvPr/>
        </p:nvSpPr>
        <p:spPr>
          <a:xfrm>
            <a:off x="501445" y="1779639"/>
            <a:ext cx="2085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element in array</a:t>
            </a:r>
            <a:endParaRPr lang="en-CA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0174886-748F-8350-96F4-5740101CFDCD}"/>
              </a:ext>
            </a:extLst>
          </p:cNvPr>
          <p:cNvCxnSpPr/>
          <p:nvPr/>
        </p:nvCxnSpPr>
        <p:spPr>
          <a:xfrm flipV="1">
            <a:off x="1366684" y="1091381"/>
            <a:ext cx="1478522" cy="688258"/>
          </a:xfrm>
          <a:prstGeom prst="bentConnector3">
            <a:avLst>
              <a:gd name="adj1" fmla="val 79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8271EA8-2594-F551-CA67-E69AB83FEDEC}"/>
              </a:ext>
            </a:extLst>
          </p:cNvPr>
          <p:cNvSpPr txBox="1"/>
          <p:nvPr/>
        </p:nvSpPr>
        <p:spPr>
          <a:xfrm>
            <a:off x="501445" y="5934670"/>
            <a:ext cx="1141525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Index into the array would be…</a:t>
            </a:r>
          </a:p>
          <a:p>
            <a:r>
              <a:rPr lang="en-US" sz="4000" dirty="0"/>
              <a:t>index = y * columns + x</a:t>
            </a:r>
          </a:p>
          <a:p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91B63-0290-E49F-6686-FF6280AB6ADF}"/>
              </a:ext>
            </a:extLst>
          </p:cNvPr>
          <p:cNvSpPr txBox="1"/>
          <p:nvPr/>
        </p:nvSpPr>
        <p:spPr>
          <a:xfrm>
            <a:off x="9827920" y="5746955"/>
            <a:ext cx="2088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31, y = 23</a:t>
            </a:r>
          </a:p>
          <a:p>
            <a:r>
              <a:rPr lang="en-US" dirty="0"/>
              <a:t>index = 23 * 32 + 31</a:t>
            </a:r>
          </a:p>
          <a:p>
            <a:r>
              <a:rPr lang="en-US" dirty="0"/>
              <a:t>index = 767</a:t>
            </a:r>
            <a:endParaRPr lang="en-CA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97C9D72-1801-5A6C-0201-C35835B028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84416" y="5801508"/>
            <a:ext cx="498057" cy="388952"/>
          </a:xfrm>
          <a:prstGeom prst="bentConnector3">
            <a:avLst>
              <a:gd name="adj1" fmla="val 9737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504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F841-F25E-26C9-A47D-5915D9260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7A06-FED0-8886-0CB2-084F4DD0C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But!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911BE-4620-4F3A-3A65-C1ABB3CEA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Ink and Paper textures used for the shader are flipped horizontally!!!</a:t>
            </a:r>
          </a:p>
          <a:p>
            <a:endParaRPr lang="en-US" dirty="0"/>
          </a:p>
          <a:p>
            <a:r>
              <a:rPr lang="en-US" dirty="0"/>
              <a:t>We need to change the formula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5103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5768-61B2-3ED6-814E-D6E57ED84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AAC8BF-0FDF-8348-A4E4-B8BEA520F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5206" y="990905"/>
            <a:ext cx="6501588" cy="4876190"/>
          </a:xfrm>
        </p:spPr>
      </p:pic>
    </p:spTree>
    <p:extLst>
      <p:ext uri="{BB962C8B-B14F-4D97-AF65-F5344CB8AC3E}">
        <p14:creationId xmlns:p14="http://schemas.microsoft.com/office/powerpoint/2010/main" val="3619001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52C89-C09C-9559-79DE-EF526573D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B6CBA-30F8-544D-27B6-2D7F9FDC7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5206" y="990905"/>
            <a:ext cx="6501588" cy="4876190"/>
          </a:xfrm>
        </p:spPr>
      </p:pic>
    </p:spTree>
    <p:extLst>
      <p:ext uri="{BB962C8B-B14F-4D97-AF65-F5344CB8AC3E}">
        <p14:creationId xmlns:p14="http://schemas.microsoft.com/office/powerpoint/2010/main" val="2673670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0F03E-323A-5E4E-E573-78895685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10748-0B65-857C-E7E2-2861031D2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5206" y="990905"/>
            <a:ext cx="6501588" cy="487619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D872F2-37AA-8C6E-8203-380E70C5F38A}"/>
              </a:ext>
            </a:extLst>
          </p:cNvPr>
          <p:cNvSpPr txBox="1"/>
          <p:nvPr/>
        </p:nvSpPr>
        <p:spPr>
          <a:xfrm>
            <a:off x="1032387" y="511277"/>
            <a:ext cx="772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ensure it’s displayed correctly, i.e. flipped, we have to re-think our formula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6CF18-73A9-392E-12AC-2BEB058CEF59}"/>
              </a:ext>
            </a:extLst>
          </p:cNvPr>
          <p:cNvSpPr txBox="1"/>
          <p:nvPr/>
        </p:nvSpPr>
        <p:spPr>
          <a:xfrm>
            <a:off x="670093" y="4890863"/>
            <a:ext cx="2085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element in array</a:t>
            </a:r>
            <a:endParaRPr lang="en-CA" dirty="0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02BB2819-E265-67A9-FE19-D619BFB68B3B}"/>
              </a:ext>
            </a:extLst>
          </p:cNvPr>
          <p:cNvCxnSpPr>
            <a:cxnSpLocks/>
          </p:cNvCxnSpPr>
          <p:nvPr/>
        </p:nvCxnSpPr>
        <p:spPr>
          <a:xfrm>
            <a:off x="1266862" y="5260195"/>
            <a:ext cx="1488354" cy="499753"/>
          </a:xfrm>
          <a:prstGeom prst="bentConnector3">
            <a:avLst>
              <a:gd name="adj1" fmla="val 111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071B32-FD2C-4D16-4350-15EE9531EA98}"/>
              </a:ext>
            </a:extLst>
          </p:cNvPr>
          <p:cNvSpPr txBox="1"/>
          <p:nvPr/>
        </p:nvSpPr>
        <p:spPr>
          <a:xfrm>
            <a:off x="501445" y="5934670"/>
            <a:ext cx="1141525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Index into the array would be…</a:t>
            </a:r>
          </a:p>
          <a:p>
            <a:r>
              <a:rPr lang="en-US" sz="4000" dirty="0"/>
              <a:t>index = (23 – y) * columns + x</a:t>
            </a:r>
          </a:p>
          <a:p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63C3B-6037-C063-D27A-B3C44CACBC0E}"/>
              </a:ext>
            </a:extLst>
          </p:cNvPr>
          <p:cNvSpPr txBox="1"/>
          <p:nvPr/>
        </p:nvSpPr>
        <p:spPr>
          <a:xfrm>
            <a:off x="9827920" y="5746955"/>
            <a:ext cx="19653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31, y = 0</a:t>
            </a:r>
          </a:p>
          <a:p>
            <a:r>
              <a:rPr lang="en-US" dirty="0"/>
              <a:t>index = 0 * 32 + 31</a:t>
            </a:r>
          </a:p>
          <a:p>
            <a:r>
              <a:rPr lang="en-US" dirty="0"/>
              <a:t>index = 31</a:t>
            </a:r>
            <a:endParaRPr lang="en-CA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4904A22-E2FF-6D62-883D-5F2E258690E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84416" y="5801508"/>
            <a:ext cx="498057" cy="388952"/>
          </a:xfrm>
          <a:prstGeom prst="bentConnector3">
            <a:avLst>
              <a:gd name="adj1" fmla="val 9737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05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</TotalTime>
  <Words>679</Words>
  <Application>Microsoft Office PowerPoint</Application>
  <PresentationFormat>Widescreen</PresentationFormat>
  <Paragraphs>87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AcPlus IBM EGA 9x14</vt:lpstr>
      <vt:lpstr>ADLaM Display</vt:lpstr>
      <vt:lpstr>Aptos</vt:lpstr>
      <vt:lpstr>Aptos Display</vt:lpstr>
      <vt:lpstr>Arial</vt:lpstr>
      <vt:lpstr>Office Theme</vt:lpstr>
      <vt:lpstr>Base Conversion Algorithm</vt:lpstr>
      <vt:lpstr>Convert from Base 10 to Another</vt:lpstr>
      <vt:lpstr>Convert from Base 10 to Another</vt:lpstr>
      <vt:lpstr>Convert from Base 10 to Another</vt:lpstr>
      <vt:lpstr>Convert from Base 10 to Another</vt:lpstr>
      <vt:lpstr>Convert from Base 10 to Another</vt:lpstr>
      <vt:lpstr>Convert from Base 10 to Another</vt:lpstr>
      <vt:lpstr>Convert from Base 10 to Another</vt:lpstr>
      <vt:lpstr>The Algorithm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PowerPoint Presentation</vt:lpstr>
      <vt:lpstr>Attribute X&amp;Y Co-Ordinates</vt:lpstr>
      <vt:lpstr>PowerPoint Presentation</vt:lpstr>
      <vt:lpstr>PowerPoint Presentation</vt:lpstr>
      <vt:lpstr>But!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Sloan Kelly</dc:creator>
  <cp:lastModifiedBy>Sloan Kelly</cp:lastModifiedBy>
  <cp:revision>9</cp:revision>
  <dcterms:created xsi:type="dcterms:W3CDTF">2025-09-27T10:24:04Z</dcterms:created>
  <dcterms:modified xsi:type="dcterms:W3CDTF">2025-09-30T13:21:17Z</dcterms:modified>
</cp:coreProperties>
</file>